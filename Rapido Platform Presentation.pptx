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Urbanist Medium"/>
      <p:regular r:id="rId20"/>
      <p:bold r:id="rId21"/>
      <p:italic r:id="rId22"/>
      <p:boldItalic r:id="rId23"/>
    </p:embeddedFont>
    <p:embeddedFont>
      <p:font typeface="Urbanist SemiBold"/>
      <p:regular r:id="rId24"/>
      <p:bold r:id="rId25"/>
      <p:italic r:id="rId26"/>
      <p:boldItalic r:id="rId27"/>
    </p:embeddedFont>
    <p:embeddedFont>
      <p:font typeface="Urbanist"/>
      <p:regular r:id="rId28"/>
      <p:bold r:id="rId29"/>
      <p:italic r:id="rId30"/>
      <p:boldItalic r:id="rId31"/>
    </p:embeddedFont>
    <p:embeddedFont>
      <p:font typeface="JetBrains Mono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239793E-4F9C-483F-AE6E-93618B338D5B}">
  <a:tblStyle styleId="{7239793E-4F9C-483F-AE6E-93618B338D5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Medium-regular.fntdata"/><Relationship Id="rId22" Type="http://schemas.openxmlformats.org/officeDocument/2006/relationships/font" Target="fonts/UrbanistMedium-italic.fntdata"/><Relationship Id="rId21" Type="http://schemas.openxmlformats.org/officeDocument/2006/relationships/font" Target="fonts/UrbanistMedium-bold.fntdata"/><Relationship Id="rId24" Type="http://schemas.openxmlformats.org/officeDocument/2006/relationships/font" Target="fonts/UrbanistSemiBold-regular.fntdata"/><Relationship Id="rId23" Type="http://schemas.openxmlformats.org/officeDocument/2006/relationships/font" Target="fonts/UrbanistMedium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UrbanistSemiBold-italic.fntdata"/><Relationship Id="rId25" Type="http://schemas.openxmlformats.org/officeDocument/2006/relationships/font" Target="fonts/UrbanistSemiBold-bold.fntdata"/><Relationship Id="rId28" Type="http://schemas.openxmlformats.org/officeDocument/2006/relationships/font" Target="fonts/Urbanist-regular.fntdata"/><Relationship Id="rId27" Type="http://schemas.openxmlformats.org/officeDocument/2006/relationships/font" Target="fonts/UrbanistSemiBold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Urbanist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Urbanist-boldItalic.fntdata"/><Relationship Id="rId30" Type="http://schemas.openxmlformats.org/officeDocument/2006/relationships/font" Target="fonts/Urbanist-italic.fntdata"/><Relationship Id="rId11" Type="http://schemas.openxmlformats.org/officeDocument/2006/relationships/slide" Target="slides/slide5.xml"/><Relationship Id="rId33" Type="http://schemas.openxmlformats.org/officeDocument/2006/relationships/font" Target="fonts/JetBrainsMono-bold.fntdata"/><Relationship Id="rId10" Type="http://schemas.openxmlformats.org/officeDocument/2006/relationships/slide" Target="slides/slide4.xml"/><Relationship Id="rId32" Type="http://schemas.openxmlformats.org/officeDocument/2006/relationships/font" Target="fonts/JetBrainsMono-regular.fntdata"/><Relationship Id="rId13" Type="http://schemas.openxmlformats.org/officeDocument/2006/relationships/slide" Target="slides/slide7.xml"/><Relationship Id="rId35" Type="http://schemas.openxmlformats.org/officeDocument/2006/relationships/font" Target="fonts/JetBrainsMono-boldItalic.fntdata"/><Relationship Id="rId12" Type="http://schemas.openxmlformats.org/officeDocument/2006/relationships/slide" Target="slides/slide6.xml"/><Relationship Id="rId34" Type="http://schemas.openxmlformats.org/officeDocument/2006/relationships/font" Target="fonts/JetBrainsMono-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e6a0c910e8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e6a0c910e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2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11" Type="http://schemas.openxmlformats.org/officeDocument/2006/relationships/image" Target="../media/image14.png"/><Relationship Id="rId10" Type="http://schemas.openxmlformats.org/officeDocument/2006/relationships/image" Target="../media/image24.png"/><Relationship Id="rId12" Type="http://schemas.openxmlformats.org/officeDocument/2006/relationships/image" Target="../media/image31.png"/><Relationship Id="rId9" Type="http://schemas.openxmlformats.org/officeDocument/2006/relationships/image" Target="../media/image33.png"/><Relationship Id="rId5" Type="http://schemas.openxmlformats.org/officeDocument/2006/relationships/image" Target="../media/image5.png"/><Relationship Id="rId6" Type="http://schemas.openxmlformats.org/officeDocument/2006/relationships/image" Target="../media/image12.png"/><Relationship Id="rId7" Type="http://schemas.openxmlformats.org/officeDocument/2006/relationships/image" Target="../media/image15.png"/><Relationship Id="rId8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13.png"/><Relationship Id="rId5" Type="http://schemas.openxmlformats.org/officeDocument/2006/relationships/image" Target="../media/image10.png"/><Relationship Id="rId6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11" Type="http://schemas.openxmlformats.org/officeDocument/2006/relationships/image" Target="../media/image22.png"/><Relationship Id="rId10" Type="http://schemas.openxmlformats.org/officeDocument/2006/relationships/image" Target="../media/image21.png"/><Relationship Id="rId12" Type="http://schemas.openxmlformats.org/officeDocument/2006/relationships/image" Target="../media/image28.png"/><Relationship Id="rId9" Type="http://schemas.openxmlformats.org/officeDocument/2006/relationships/image" Target="../media/image30.png"/><Relationship Id="rId5" Type="http://schemas.openxmlformats.org/officeDocument/2006/relationships/image" Target="../media/image23.png"/><Relationship Id="rId6" Type="http://schemas.openxmlformats.org/officeDocument/2006/relationships/image" Target="../media/image20.png"/><Relationship Id="rId7" Type="http://schemas.openxmlformats.org/officeDocument/2006/relationships/image" Target="../media/image35.png"/><Relationship Id="rId8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19.png"/><Relationship Id="rId5" Type="http://schemas.openxmlformats.org/officeDocument/2006/relationships/image" Target="../media/image3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2.png"/><Relationship Id="rId4" Type="http://schemas.openxmlformats.org/officeDocument/2006/relationships/image" Target="../media/image26.png"/><Relationship Id="rId5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05276" y="2103239"/>
            <a:ext cx="11581447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3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Rapido Platform Simulation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81025" y="3269009"/>
            <a:ext cx="110299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8892B0"/>
                </a:solidFill>
                <a:latin typeface="Urbanist"/>
                <a:ea typeface="Urbanist"/>
                <a:cs typeface="Urbanist"/>
                <a:sym typeface="Urbanist"/>
              </a:rPr>
              <a:t>A Robust Ride Management System Backend in C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81025" y="4110930"/>
            <a:ext cx="11029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E1E7"/>
                </a:solidFill>
                <a:latin typeface="Urbanist"/>
                <a:ea typeface="Urbanist"/>
                <a:cs typeface="Urbanist"/>
                <a:sym typeface="Urbanist"/>
              </a:rPr>
              <a:t>Developed by: </a:t>
            </a:r>
            <a:r>
              <a:rPr b="1" i="0" lang="en-US" sz="1500" u="none" cap="none" strike="noStrike">
                <a:solidFill>
                  <a:srgbClr val="DAE1E7"/>
                </a:solidFill>
                <a:latin typeface="Urbanist"/>
                <a:ea typeface="Urbanist"/>
                <a:cs typeface="Urbanist"/>
                <a:sym typeface="Urbanist"/>
              </a:rPr>
              <a:t>Ravi Kumar &amp; Harshavardhan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81025" y="4510980"/>
            <a:ext cx="110299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E1E7"/>
                </a:solidFill>
                <a:latin typeface="Urbanist"/>
                <a:ea typeface="Urbanist"/>
                <a:cs typeface="Urbanist"/>
                <a:sym typeface="Urbanist"/>
              </a:rPr>
              <a:t>Data Structures &amp; Algorithms Project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600200"/>
            <a:ext cx="5276850" cy="467677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581025" y="2357437"/>
            <a:ext cx="554069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4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System Overview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581025" y="2576512"/>
            <a:ext cx="52768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E1E7"/>
                </a:solidFill>
                <a:latin typeface="Urbanist"/>
                <a:ea typeface="Urbanist"/>
                <a:cs typeface="Urbanist"/>
                <a:sym typeface="Urbanist"/>
              </a:rPr>
              <a:t>The </a:t>
            </a:r>
            <a:r>
              <a:rPr b="1" i="0" lang="en-US" sz="1500" u="none" cap="none" strike="noStrike">
                <a:solidFill>
                  <a:srgbClr val="DAE1E7"/>
                </a:solidFill>
                <a:latin typeface="Urbanist"/>
                <a:ea typeface="Urbanist"/>
                <a:cs typeface="Urbanist"/>
                <a:sym typeface="Urbanist"/>
              </a:rPr>
              <a:t>Rapido Platform Backend</a:t>
            </a:r>
            <a:r>
              <a:rPr b="0" i="0" lang="en-US" sz="1500" u="none" cap="none" strike="noStrike">
                <a:solidFill>
                  <a:srgbClr val="DAE1E7"/>
                </a:solidFill>
                <a:latin typeface="Urbanist"/>
                <a:ea typeface="Urbanist"/>
                <a:cs typeface="Urbanist"/>
                <a:sym typeface="Urbanist"/>
              </a:rPr>
              <a:t> is a software simulation designed to handle high-frequency ride-hailing requests efficiently. It serves as a foundational architectural model for transport aggregators.</a:t>
            </a:r>
            <a:endParaRPr/>
          </a:p>
        </p:txBody>
      </p:sp>
      <p:pic>
        <p:nvPicPr>
          <p:cNvPr descr="image.png" id="97" name="Google Shape;9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609725"/>
            <a:ext cx="5257800" cy="465772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914400" y="4033837"/>
            <a:ext cx="49434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E1E7"/>
                </a:solidFill>
                <a:latin typeface="Urbanist"/>
                <a:ea typeface="Urbanist"/>
                <a:cs typeface="Urbanist"/>
                <a:sym typeface="Urbanist"/>
              </a:rPr>
              <a:t>Dynamic ride booking and queue management.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914400" y="4529137"/>
            <a:ext cx="49434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E1E7"/>
                </a:solidFill>
                <a:latin typeface="Urbanist"/>
                <a:ea typeface="Urbanist"/>
                <a:cs typeface="Urbanist"/>
                <a:sym typeface="Urbanist"/>
              </a:rPr>
              <a:t>Efficient resource allocation via memory pointers.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914400" y="5024437"/>
            <a:ext cx="49434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E1E7"/>
                </a:solidFill>
                <a:latin typeface="Urbanist"/>
                <a:ea typeface="Urbanist"/>
                <a:cs typeface="Urbanist"/>
                <a:sym typeface="Urbanist"/>
              </a:rPr>
              <a:t>Scalable backend logic for urban mobility.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581025" y="581025"/>
            <a:ext cx="11581447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Project </a:t>
            </a:r>
            <a:r>
              <a:rPr b="0" i="0" lang="en-US" sz="4200" u="none" cap="none" strike="noStrike">
                <a:solidFill>
                  <a:srgbClr val="00F2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Vision</a:t>
            </a:r>
            <a:endParaRPr/>
          </a:p>
        </p:txBody>
      </p:sp>
      <p:pic>
        <p:nvPicPr>
          <p:cNvPr descr="image.png" id="102" name="Google Shape;102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090987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586287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5081587"/>
            <a:ext cx="9525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9" name="Google Shape;10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581025" y="3062287"/>
            <a:ext cx="422136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0" u="none" cap="none" strike="noStrike">
                <a:solidFill>
                  <a:srgbClr val="00F2FF"/>
                </a:solidFill>
                <a:latin typeface="Urbanist"/>
                <a:ea typeface="Urbanist"/>
                <a:cs typeface="Urbanist"/>
                <a:sym typeface="Urbanist"/>
              </a:rPr>
              <a:t>100%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581025" y="4491037"/>
            <a:ext cx="422136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Static Constraint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5278635" y="2686050"/>
            <a:ext cx="664895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4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Limitations of Arrays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5278635" y="2905125"/>
            <a:ext cx="6332339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E1E7"/>
                </a:solidFill>
                <a:latin typeface="Urbanist"/>
                <a:ea typeface="Urbanist"/>
                <a:cs typeface="Urbanist"/>
                <a:sym typeface="Urbanist"/>
              </a:rPr>
              <a:t>Conventional systems using static arrays suffer from critical bottlenecks in ride-hailing scenarios: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5612010" y="3705225"/>
            <a:ext cx="5998964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E1E7"/>
                </a:solidFill>
                <a:latin typeface="Urbanist"/>
                <a:ea typeface="Urbanist"/>
                <a:cs typeface="Urbanist"/>
                <a:sym typeface="Urbanist"/>
              </a:rPr>
              <a:t>Memory Wastage:</a:t>
            </a:r>
            <a:r>
              <a:rPr b="0" i="0" lang="en-US" sz="1500" u="none" cap="none" strike="noStrike">
                <a:solidFill>
                  <a:srgbClr val="DAE1E7"/>
                </a:solidFill>
                <a:latin typeface="Urbanist"/>
                <a:ea typeface="Urbanist"/>
                <a:cs typeface="Urbanist"/>
                <a:sym typeface="Urbanist"/>
              </a:rPr>
              <a:t> Fixed-size arrays reserve space even when idle.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5612010" y="4200525"/>
            <a:ext cx="5998964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E1E7"/>
                </a:solidFill>
                <a:latin typeface="Urbanist"/>
                <a:ea typeface="Urbanist"/>
                <a:cs typeface="Urbanist"/>
                <a:sym typeface="Urbanist"/>
              </a:rPr>
              <a:t>System Overflow:</a:t>
            </a:r>
            <a:r>
              <a:rPr b="0" i="0" lang="en-US" sz="1500" u="none" cap="none" strike="noStrike">
                <a:solidFill>
                  <a:srgbClr val="DAE1E7"/>
                </a:solidFill>
                <a:latin typeface="Urbanist"/>
                <a:ea typeface="Urbanist"/>
                <a:cs typeface="Urbanist"/>
                <a:sym typeface="Urbanist"/>
              </a:rPr>
              <a:t> Inability to handle requests beyond predefined limits.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5612010" y="4695825"/>
            <a:ext cx="5998964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E1E7"/>
                </a:solidFill>
                <a:latin typeface="Urbanist"/>
                <a:ea typeface="Urbanist"/>
                <a:cs typeface="Urbanist"/>
                <a:sym typeface="Urbanist"/>
              </a:rPr>
              <a:t>Operational Rigidity:</a:t>
            </a:r>
            <a:r>
              <a:rPr b="0" i="0" lang="en-US" sz="1500" u="none" cap="none" strike="noStrike">
                <a:solidFill>
                  <a:srgbClr val="DAE1E7"/>
                </a:solidFill>
                <a:latin typeface="Urbanist"/>
                <a:ea typeface="Urbanist"/>
                <a:cs typeface="Urbanist"/>
                <a:sym typeface="Urbanist"/>
              </a:rPr>
              <a:t> Costly shifting of data during ride cancellations.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581025" y="581025"/>
            <a:ext cx="11581447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The </a:t>
            </a:r>
            <a:r>
              <a:rPr b="0" i="0" lang="en-US" sz="4200" u="none" cap="none" strike="noStrike">
                <a:solidFill>
                  <a:srgbClr val="00F2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Problem</a:t>
            </a:r>
            <a:r>
              <a:rPr b="0" i="0" lang="en-US" sz="42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Statement</a:t>
            </a:r>
            <a:endParaRPr/>
          </a:p>
        </p:txBody>
      </p:sp>
      <p:pic>
        <p:nvPicPr>
          <p:cNvPr descr="image.png" id="118" name="Google Shape;11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78635" y="3762375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78635" y="4257675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78635" y="4752975"/>
            <a:ext cx="9525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5" name="Google Shape;12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771900"/>
            <a:ext cx="4943475" cy="1504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581025" y="1638300"/>
            <a:ext cx="5190648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Real-world </a:t>
            </a:r>
            <a:r>
              <a:rPr b="0" i="0" lang="en-US" sz="3600" u="none" cap="none" strike="noStrike">
                <a:solidFill>
                  <a:srgbClr val="00F2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Impact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581025" y="2571750"/>
            <a:ext cx="49434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E1E7"/>
                </a:solidFill>
                <a:latin typeface="Urbanist"/>
                <a:ea typeface="Urbanist"/>
                <a:cs typeface="Urbanist"/>
                <a:sym typeface="Urbanist"/>
              </a:rPr>
              <a:t>In mega-cities, platforms like Rapido and Uber process millions of events. Our project mimics the core logistical engine that powers these services.</a:t>
            </a:r>
            <a:endParaRPr/>
          </a:p>
        </p:txBody>
      </p:sp>
      <p:pic>
        <p:nvPicPr>
          <p:cNvPr descr="image.png" id="129" name="Google Shape;12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0" y="9525"/>
            <a:ext cx="60864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876300" y="4067175"/>
            <a:ext cx="43529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E1E7"/>
                </a:solidFill>
                <a:latin typeface="Urbanist"/>
                <a:ea typeface="Urbanist"/>
                <a:cs typeface="Urbanist"/>
                <a:sym typeface="Urbanist"/>
              </a:rPr>
              <a:t>Use Cases:</a:t>
            </a:r>
            <a:r>
              <a:rPr b="0" i="0" lang="en-US" sz="1500" u="none" cap="none" strike="noStrike">
                <a:solidFill>
                  <a:srgbClr val="DAE1E7"/>
                </a:solidFill>
                <a:latin typeface="Urbanist"/>
                <a:ea typeface="Urbanist"/>
                <a:cs typeface="Urbanist"/>
                <a:sym typeface="Urbanist"/>
              </a:rPr>
              <a:t> Bike-taxis, on-demand logistics, real-time fleet tracking, and dynamic fare estimation engines.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5" name="Google Shape;13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033587"/>
            <a:ext cx="52768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0550" y="2043112"/>
            <a:ext cx="14668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/>
        </p:nvSpPr>
        <p:spPr>
          <a:xfrm>
            <a:off x="6334125" y="2228850"/>
            <a:ext cx="554069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4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Singly Linked List (SLL)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6334125" y="2447925"/>
            <a:ext cx="5276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E1E7"/>
                </a:solidFill>
                <a:latin typeface="Urbanist"/>
                <a:ea typeface="Urbanist"/>
                <a:cs typeface="Urbanist"/>
                <a:sym typeface="Urbanist"/>
              </a:rPr>
              <a:t>The platform is anchored on the </a:t>
            </a:r>
            <a:r>
              <a:rPr b="1" i="0" lang="en-US" sz="1500" u="none" cap="none" strike="noStrike">
                <a:solidFill>
                  <a:srgbClr val="DAE1E7"/>
                </a:solidFill>
                <a:latin typeface="Urbanist"/>
                <a:ea typeface="Urbanist"/>
                <a:cs typeface="Urbanist"/>
                <a:sym typeface="Urbanist"/>
              </a:rPr>
              <a:t>Singly Linked List</a:t>
            </a:r>
            <a:r>
              <a:rPr b="0" i="0" lang="en-US" sz="1500" u="none" cap="none" strike="noStrike">
                <a:solidFill>
                  <a:srgbClr val="DAE1E7"/>
                </a:solidFill>
                <a:latin typeface="Urbanist"/>
                <a:ea typeface="Urbanist"/>
                <a:cs typeface="Urbanist"/>
                <a:sym typeface="Urbanist"/>
              </a:rPr>
              <a:t> architecture, providing unparalleled flexibility for ride data.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6667500" y="3248025"/>
            <a:ext cx="49434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E1E7"/>
                </a:solidFill>
                <a:latin typeface="Urbanist"/>
                <a:ea typeface="Urbanist"/>
                <a:cs typeface="Urbanist"/>
                <a:sym typeface="Urbanist"/>
              </a:rPr>
              <a:t>Dynamic Nodes:</a:t>
            </a:r>
            <a:r>
              <a:rPr b="0" i="0" lang="en-US" sz="1500" u="none" cap="none" strike="noStrike">
                <a:solidFill>
                  <a:srgbClr val="DAE1E7"/>
                </a:solidFill>
                <a:latin typeface="Urbanist"/>
                <a:ea typeface="Urbanist"/>
                <a:cs typeface="Urbanist"/>
                <a:sym typeface="Urbanist"/>
              </a:rPr>
              <a:t> Every ride booking is an independent memory node.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6667500" y="4048125"/>
            <a:ext cx="49434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E1E7"/>
                </a:solidFill>
                <a:latin typeface="Urbanist"/>
                <a:ea typeface="Urbanist"/>
                <a:cs typeface="Urbanist"/>
                <a:sym typeface="Urbanist"/>
              </a:rPr>
              <a:t>Runtime Allocation:</a:t>
            </a:r>
            <a:r>
              <a:rPr b="0" i="0" lang="en-US" sz="1500" u="none" cap="none" strike="noStrike">
                <a:solidFill>
                  <a:srgbClr val="DAE1E7"/>
                </a:solidFill>
                <a:latin typeface="Urbanist"/>
                <a:ea typeface="Urbanist"/>
                <a:cs typeface="Urbanist"/>
                <a:sym typeface="Urbanist"/>
              </a:rPr>
              <a:t> Memory is claimed only when a booking is made.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6667500" y="4848225"/>
            <a:ext cx="49434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E1E7"/>
                </a:solidFill>
                <a:latin typeface="Urbanist"/>
                <a:ea typeface="Urbanist"/>
                <a:cs typeface="Urbanist"/>
                <a:sym typeface="Urbanist"/>
              </a:rPr>
              <a:t>Seamless Deletion:</a:t>
            </a:r>
            <a:r>
              <a:rPr b="0" i="0" lang="en-US" sz="1500" u="none" cap="none" strike="noStrike">
                <a:solidFill>
                  <a:srgbClr val="DAE1E7"/>
                </a:solidFill>
                <a:latin typeface="Urbanist"/>
                <a:ea typeface="Urbanist"/>
                <a:cs typeface="Urbanist"/>
                <a:sym typeface="Urbanist"/>
              </a:rPr>
              <a:t> Ride completion frees memory with O(1) pointer adjustment.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581025" y="581025"/>
            <a:ext cx="11581447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Data </a:t>
            </a:r>
            <a:r>
              <a:rPr b="0" i="0" lang="en-US" sz="4200" u="none" cap="none" strike="noStrike">
                <a:solidFill>
                  <a:srgbClr val="00F2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Structure</a:t>
            </a:r>
            <a:r>
              <a:rPr b="0" i="0" lang="en-US" sz="42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Chosen</a:t>
            </a:r>
            <a:endParaRPr/>
          </a:p>
        </p:txBody>
      </p:sp>
      <p:pic>
        <p:nvPicPr>
          <p:cNvPr descr="image.png" id="144" name="Google Shape;144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3305175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4105275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4905375"/>
            <a:ext cx="9525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1" name="Google Shape;15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619375"/>
            <a:ext cx="3549550" cy="2638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21075" y="2619375"/>
            <a:ext cx="3549699" cy="2638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1275" y="2619375"/>
            <a:ext cx="3549550" cy="2638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6300" y="291465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8"/>
          <p:cNvSpPr txBox="1"/>
          <p:nvPr/>
        </p:nvSpPr>
        <p:spPr>
          <a:xfrm>
            <a:off x="876300" y="3629025"/>
            <a:ext cx="31069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F2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Modular Layer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876300" y="4048125"/>
            <a:ext cx="2959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E1E7"/>
                </a:solidFill>
                <a:latin typeface="Urbanist"/>
                <a:ea typeface="Urbanist"/>
                <a:cs typeface="Urbanist"/>
                <a:sym typeface="Urbanist"/>
              </a:rPr>
              <a:t>Independent functions for each CRUD operation to ensure clean code and high maintainability.</a:t>
            </a:r>
            <a:endParaRPr/>
          </a:p>
        </p:txBody>
      </p:sp>
      <p:pic>
        <p:nvPicPr>
          <p:cNvPr descr="image.png" id="158" name="Google Shape;158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16350" y="291465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8"/>
          <p:cNvSpPr txBox="1"/>
          <p:nvPr/>
        </p:nvSpPr>
        <p:spPr>
          <a:xfrm>
            <a:off x="4616350" y="3629025"/>
            <a:ext cx="310710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F2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Heap Logic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4616350" y="4048125"/>
            <a:ext cx="295914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E1E7"/>
                </a:solidFill>
                <a:latin typeface="Urbanist"/>
                <a:ea typeface="Urbanist"/>
                <a:cs typeface="Urbanist"/>
                <a:sym typeface="Urbanist"/>
              </a:rPr>
              <a:t>Bypassing the stack to utilize heap memory for persistent data during the program session.</a:t>
            </a:r>
            <a:endParaRPr/>
          </a:p>
        </p:txBody>
      </p:sp>
      <p:pic>
        <p:nvPicPr>
          <p:cNvPr descr="image.png" id="161" name="Google Shape;161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56550" y="291465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8"/>
          <p:cNvSpPr txBox="1"/>
          <p:nvPr/>
        </p:nvSpPr>
        <p:spPr>
          <a:xfrm>
            <a:off x="8356550" y="3629025"/>
            <a:ext cx="31069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F2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Memory Safety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8356550" y="4048125"/>
            <a:ext cx="2959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E1E7"/>
                </a:solidFill>
                <a:latin typeface="Urbanist"/>
                <a:ea typeface="Urbanist"/>
                <a:cs typeface="Urbanist"/>
                <a:sym typeface="Urbanist"/>
              </a:rPr>
              <a:t>Strict implementation of explicit deallocation loops to prevent memory leakage on exit.</a:t>
            </a:r>
            <a:endParaRPr/>
          </a:p>
        </p:txBody>
      </p:sp>
      <p:pic>
        <p:nvPicPr>
          <p:cNvPr descr="image.png" id="164" name="Google Shape;164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33462" y="3086100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787800" y="30861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528000" y="308610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8"/>
          <p:cNvSpPr txBox="1"/>
          <p:nvPr/>
        </p:nvSpPr>
        <p:spPr>
          <a:xfrm>
            <a:off x="581025" y="581025"/>
            <a:ext cx="11581447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System </a:t>
            </a:r>
            <a:r>
              <a:rPr b="0" i="0" lang="en-US" sz="4200" u="none" cap="none" strike="noStrike">
                <a:solidFill>
                  <a:srgbClr val="00F2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Architecture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2" name="Google Shape;17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3" name="Google Shape;173;p19"/>
          <p:cNvGraphicFramePr/>
          <p:nvPr/>
        </p:nvGraphicFramePr>
        <p:xfrm>
          <a:off x="581025" y="2743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{7239793E-4F9C-483F-AE6E-93618B338D5B}</a:tableStyleId>
              </a:tblPr>
              <a:tblGrid>
                <a:gridCol w="2430225"/>
                <a:gridCol w="6243925"/>
                <a:gridCol w="2355800"/>
              </a:tblGrid>
              <a:tr h="51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00F2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Operation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00F2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Algorithmic Logic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00F2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Efficiency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51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DAE1E7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Create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DAE1E7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Dynamic Node Allocation + Tail Linkage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DAE1E7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O(n)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51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DAE1E7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Read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DAE1E7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Sequential List Traversal to NULL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DAE1E7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O(n)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51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DAE1E7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Update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DAE1E7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Linear Search + Attribute Modification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DAE1E7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O(n)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51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DAE1E7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Delete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DAE1E7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Predecessor Rerouting + Memory Free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DAE1E7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O(n)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</a:tbl>
          </a:graphicData>
        </a:graphic>
      </p:graphicFrame>
      <p:sp>
        <p:nvSpPr>
          <p:cNvPr id="174" name="Google Shape;174;p19"/>
          <p:cNvSpPr/>
          <p:nvPr/>
        </p:nvSpPr>
        <p:spPr>
          <a:xfrm>
            <a:off x="581025" y="3276600"/>
            <a:ext cx="2430214" cy="1905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9"/>
          <p:cNvSpPr/>
          <p:nvPr/>
        </p:nvSpPr>
        <p:spPr>
          <a:xfrm>
            <a:off x="3011239" y="3276600"/>
            <a:ext cx="6243935" cy="1905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9"/>
          <p:cNvSpPr/>
          <p:nvPr/>
        </p:nvSpPr>
        <p:spPr>
          <a:xfrm>
            <a:off x="9255174" y="3276600"/>
            <a:ext cx="2355800" cy="1905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9"/>
          <p:cNvSpPr/>
          <p:nvPr/>
        </p:nvSpPr>
        <p:spPr>
          <a:xfrm>
            <a:off x="581025" y="3795712"/>
            <a:ext cx="2430214" cy="9525"/>
          </a:xfrm>
          <a:prstGeom prst="rect">
            <a:avLst/>
          </a:prstGeom>
          <a:solidFill>
            <a:srgbClr val="1F26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9"/>
          <p:cNvSpPr/>
          <p:nvPr/>
        </p:nvSpPr>
        <p:spPr>
          <a:xfrm>
            <a:off x="3011239" y="3795712"/>
            <a:ext cx="6243935" cy="9525"/>
          </a:xfrm>
          <a:prstGeom prst="rect">
            <a:avLst/>
          </a:prstGeom>
          <a:solidFill>
            <a:srgbClr val="1F26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9"/>
          <p:cNvSpPr/>
          <p:nvPr/>
        </p:nvSpPr>
        <p:spPr>
          <a:xfrm>
            <a:off x="9255174" y="3795712"/>
            <a:ext cx="2355800" cy="9525"/>
          </a:xfrm>
          <a:prstGeom prst="rect">
            <a:avLst/>
          </a:prstGeom>
          <a:solidFill>
            <a:srgbClr val="1F26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9"/>
          <p:cNvSpPr/>
          <p:nvPr/>
        </p:nvSpPr>
        <p:spPr>
          <a:xfrm>
            <a:off x="581025" y="4300537"/>
            <a:ext cx="2430214" cy="9525"/>
          </a:xfrm>
          <a:prstGeom prst="rect">
            <a:avLst/>
          </a:prstGeom>
          <a:solidFill>
            <a:srgbClr val="1F26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9"/>
          <p:cNvSpPr/>
          <p:nvPr/>
        </p:nvSpPr>
        <p:spPr>
          <a:xfrm>
            <a:off x="3011239" y="4300537"/>
            <a:ext cx="6243935" cy="9525"/>
          </a:xfrm>
          <a:prstGeom prst="rect">
            <a:avLst/>
          </a:prstGeom>
          <a:solidFill>
            <a:srgbClr val="1F26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9"/>
          <p:cNvSpPr/>
          <p:nvPr/>
        </p:nvSpPr>
        <p:spPr>
          <a:xfrm>
            <a:off x="9255174" y="4300537"/>
            <a:ext cx="2355800" cy="9525"/>
          </a:xfrm>
          <a:prstGeom prst="rect">
            <a:avLst/>
          </a:prstGeom>
          <a:solidFill>
            <a:srgbClr val="1F26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9"/>
          <p:cNvSpPr/>
          <p:nvPr/>
        </p:nvSpPr>
        <p:spPr>
          <a:xfrm>
            <a:off x="581025" y="4805362"/>
            <a:ext cx="2430214" cy="9525"/>
          </a:xfrm>
          <a:prstGeom prst="rect">
            <a:avLst/>
          </a:prstGeom>
          <a:solidFill>
            <a:srgbClr val="1F26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9"/>
          <p:cNvSpPr/>
          <p:nvPr/>
        </p:nvSpPr>
        <p:spPr>
          <a:xfrm>
            <a:off x="3011239" y="4805362"/>
            <a:ext cx="6243935" cy="9525"/>
          </a:xfrm>
          <a:prstGeom prst="rect">
            <a:avLst/>
          </a:prstGeom>
          <a:solidFill>
            <a:srgbClr val="1F26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9"/>
          <p:cNvSpPr/>
          <p:nvPr/>
        </p:nvSpPr>
        <p:spPr>
          <a:xfrm>
            <a:off x="9255174" y="4805362"/>
            <a:ext cx="2355800" cy="9525"/>
          </a:xfrm>
          <a:prstGeom prst="rect">
            <a:avLst/>
          </a:prstGeom>
          <a:solidFill>
            <a:srgbClr val="1F26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9"/>
          <p:cNvSpPr/>
          <p:nvPr/>
        </p:nvSpPr>
        <p:spPr>
          <a:xfrm>
            <a:off x="581025" y="5310187"/>
            <a:ext cx="2430214" cy="9525"/>
          </a:xfrm>
          <a:prstGeom prst="rect">
            <a:avLst/>
          </a:prstGeom>
          <a:solidFill>
            <a:srgbClr val="1F26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9"/>
          <p:cNvSpPr/>
          <p:nvPr/>
        </p:nvSpPr>
        <p:spPr>
          <a:xfrm>
            <a:off x="3011239" y="5310187"/>
            <a:ext cx="6243935" cy="9525"/>
          </a:xfrm>
          <a:prstGeom prst="rect">
            <a:avLst/>
          </a:prstGeom>
          <a:solidFill>
            <a:srgbClr val="1F26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9"/>
          <p:cNvSpPr/>
          <p:nvPr/>
        </p:nvSpPr>
        <p:spPr>
          <a:xfrm>
            <a:off x="9255174" y="5310187"/>
            <a:ext cx="2355800" cy="9525"/>
          </a:xfrm>
          <a:prstGeom prst="rect">
            <a:avLst/>
          </a:prstGeom>
          <a:solidFill>
            <a:srgbClr val="1F26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9"/>
          <p:cNvSpPr txBox="1"/>
          <p:nvPr/>
        </p:nvSpPr>
        <p:spPr>
          <a:xfrm>
            <a:off x="581025" y="581025"/>
            <a:ext cx="11581447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The </a:t>
            </a:r>
            <a:r>
              <a:rPr b="0" i="0" lang="en-US" sz="4200" u="none" cap="none" strike="noStrike">
                <a:solidFill>
                  <a:srgbClr val="00F2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CRUD</a:t>
            </a:r>
            <a:r>
              <a:rPr b="0" i="0" lang="en-US" sz="42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Algorithm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4" name="Google Shape;19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3281362"/>
            <a:ext cx="5276850" cy="131445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0"/>
          <p:cNvSpPr txBox="1"/>
          <p:nvPr/>
        </p:nvSpPr>
        <p:spPr>
          <a:xfrm>
            <a:off x="581025" y="2838450"/>
            <a:ext cx="554069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4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Technical Stack</a:t>
            </a:r>
            <a:endParaRPr/>
          </a:p>
        </p:txBody>
      </p:sp>
      <p:sp>
        <p:nvSpPr>
          <p:cNvPr id="197" name="Google Shape;197;p20"/>
          <p:cNvSpPr txBox="1"/>
          <p:nvPr/>
        </p:nvSpPr>
        <p:spPr>
          <a:xfrm>
            <a:off x="6629400" y="3576637"/>
            <a:ext cx="4686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F2FF"/>
                </a:solidFill>
                <a:latin typeface="Urbanist"/>
                <a:ea typeface="Urbanist"/>
                <a:cs typeface="Urbanist"/>
                <a:sym typeface="Urbanist"/>
              </a:rPr>
              <a:t>Node Definition</a:t>
            </a:r>
            <a:endParaRPr/>
          </a:p>
        </p:txBody>
      </p:sp>
      <p:sp>
        <p:nvSpPr>
          <p:cNvPr id="198" name="Google Shape;198;p20"/>
          <p:cNvSpPr txBox="1"/>
          <p:nvPr/>
        </p:nvSpPr>
        <p:spPr>
          <a:xfrm>
            <a:off x="914400" y="3057525"/>
            <a:ext cx="49434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E1E7"/>
                </a:solidFill>
                <a:latin typeface="Urbanist"/>
                <a:ea typeface="Urbanist"/>
                <a:cs typeface="Urbanist"/>
                <a:sym typeface="Urbanist"/>
              </a:rPr>
              <a:t>Language:</a:t>
            </a:r>
            <a:r>
              <a:rPr b="0" i="0" lang="en-US" sz="1500" u="none" cap="none" strike="noStrike">
                <a:solidFill>
                  <a:srgbClr val="DAE1E7"/>
                </a:solidFill>
                <a:latin typeface="Urbanist"/>
                <a:ea typeface="Urbanist"/>
                <a:cs typeface="Urbanist"/>
                <a:sym typeface="Urbanist"/>
              </a:rPr>
              <a:t> ANSI C (Low-level Control)</a:t>
            </a:r>
            <a:endParaRPr/>
          </a:p>
        </p:txBody>
      </p:sp>
      <p:sp>
        <p:nvSpPr>
          <p:cNvPr id="199" name="Google Shape;199;p20"/>
          <p:cNvSpPr txBox="1"/>
          <p:nvPr/>
        </p:nvSpPr>
        <p:spPr>
          <a:xfrm>
            <a:off x="914400" y="3552825"/>
            <a:ext cx="49434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E1E7"/>
                </a:solidFill>
                <a:latin typeface="Urbanist"/>
                <a:ea typeface="Urbanist"/>
                <a:cs typeface="Urbanist"/>
                <a:sym typeface="Urbanist"/>
              </a:rPr>
              <a:t>Memory:</a:t>
            </a:r>
            <a:r>
              <a:rPr b="0" i="0" lang="en-US" sz="1500" u="none" cap="none" strike="noStrike">
                <a:solidFill>
                  <a:srgbClr val="DAE1E7"/>
                </a:solidFill>
                <a:latin typeface="Urbanist"/>
                <a:ea typeface="Urbanist"/>
                <a:cs typeface="Urbanist"/>
                <a:sym typeface="Urbanist"/>
              </a:rPr>
              <a:t> malloc(), free()</a:t>
            </a:r>
            <a:endParaRPr/>
          </a:p>
        </p:txBody>
      </p:sp>
      <p:sp>
        <p:nvSpPr>
          <p:cNvPr id="200" name="Google Shape;200;p20"/>
          <p:cNvSpPr txBox="1"/>
          <p:nvPr/>
        </p:nvSpPr>
        <p:spPr>
          <a:xfrm>
            <a:off x="914400" y="4048125"/>
            <a:ext cx="49434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E1E7"/>
                </a:solidFill>
                <a:latin typeface="Urbanist"/>
                <a:ea typeface="Urbanist"/>
                <a:cs typeface="Urbanist"/>
                <a:sym typeface="Urbanist"/>
              </a:rPr>
              <a:t>Logic:</a:t>
            </a:r>
            <a:r>
              <a:rPr b="0" i="0" lang="en-US" sz="1500" u="none" cap="none" strike="noStrike">
                <a:solidFill>
                  <a:srgbClr val="DAE1E7"/>
                </a:solidFill>
                <a:latin typeface="Urbanist"/>
                <a:ea typeface="Urbanist"/>
                <a:cs typeface="Urbanist"/>
                <a:sym typeface="Urbanist"/>
              </a:rPr>
              <a:t> Self-referential Structures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914400" y="4543425"/>
            <a:ext cx="49434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E1E7"/>
                </a:solidFill>
                <a:latin typeface="Urbanist"/>
                <a:ea typeface="Urbanist"/>
                <a:cs typeface="Urbanist"/>
                <a:sym typeface="Urbanist"/>
              </a:rPr>
              <a:t>UI:</a:t>
            </a:r>
            <a:r>
              <a:rPr b="0" i="0" lang="en-US" sz="1500" u="none" cap="none" strike="noStrike">
                <a:solidFill>
                  <a:srgbClr val="DAE1E7"/>
                </a:solidFill>
                <a:latin typeface="Urbanist"/>
                <a:ea typeface="Urbanist"/>
                <a:cs typeface="Urbanist"/>
                <a:sym typeface="Urbanist"/>
              </a:rPr>
              <a:t> Menu-driven Switch Interface</a:t>
            </a:r>
            <a:endParaRPr/>
          </a:p>
        </p:txBody>
      </p:sp>
      <p:pic>
        <p:nvPicPr>
          <p:cNvPr descr="image.png" id="202" name="Google Shape;202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29400" y="4024312"/>
            <a:ext cx="46863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0"/>
          <p:cNvSpPr txBox="1"/>
          <p:nvPr/>
        </p:nvSpPr>
        <p:spPr>
          <a:xfrm>
            <a:off x="581025" y="581025"/>
            <a:ext cx="11581447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Code </a:t>
            </a:r>
            <a:r>
              <a:rPr b="0" i="0" lang="en-US" sz="4200" u="none" cap="none" strike="noStrike">
                <a:solidFill>
                  <a:srgbClr val="00F2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Implementation</a:t>
            </a:r>
            <a:endParaRPr/>
          </a:p>
        </p:txBody>
      </p:sp>
      <p:pic>
        <p:nvPicPr>
          <p:cNvPr descr="image.png" id="204" name="Google Shape;204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114675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609975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105275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600575"/>
            <a:ext cx="9525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2" name="Google Shape;21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600200"/>
            <a:ext cx="3549550" cy="2552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21075" y="1600200"/>
            <a:ext cx="3549699" cy="2552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1275" y="1600200"/>
            <a:ext cx="3549550" cy="2552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4343400"/>
            <a:ext cx="3549550" cy="1933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321075" y="4343400"/>
            <a:ext cx="7289750" cy="1933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90550" y="1609725"/>
            <a:ext cx="35305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2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330600" y="1609725"/>
            <a:ext cx="3530649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2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070800" y="1609725"/>
            <a:ext cx="35305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90550" y="4352925"/>
            <a:ext cx="35305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2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330600" y="4352925"/>
            <a:ext cx="72707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1"/>
          <p:cNvSpPr/>
          <p:nvPr/>
        </p:nvSpPr>
        <p:spPr>
          <a:xfrm>
            <a:off x="704850" y="1685925"/>
            <a:ext cx="95400" cy="95400"/>
          </a:xfrm>
          <a:prstGeom prst="roundRect">
            <a:avLst>
              <a:gd fmla="val 50000" name="adj"/>
            </a:avLst>
          </a:prstGeom>
          <a:solidFill>
            <a:srgbClr val="EF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1"/>
          <p:cNvSpPr/>
          <p:nvPr/>
        </p:nvSpPr>
        <p:spPr>
          <a:xfrm>
            <a:off x="857250" y="1685925"/>
            <a:ext cx="95400" cy="95400"/>
          </a:xfrm>
          <a:prstGeom prst="roundRect">
            <a:avLst>
              <a:gd fmla="val 50000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1"/>
          <p:cNvSpPr/>
          <p:nvPr/>
        </p:nvSpPr>
        <p:spPr>
          <a:xfrm>
            <a:off x="1009650" y="1685925"/>
            <a:ext cx="95400" cy="95400"/>
          </a:xfrm>
          <a:prstGeom prst="roundRect">
            <a:avLst>
              <a:gd fmla="val 50000" name="adj"/>
            </a:avLst>
          </a:prstGeom>
          <a:solidFill>
            <a:srgbClr val="22C5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1"/>
          <p:cNvSpPr txBox="1"/>
          <p:nvPr/>
        </p:nvSpPr>
        <p:spPr>
          <a:xfrm>
            <a:off x="1257300" y="1685925"/>
            <a:ext cx="6858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Add_Ride.exe</a:t>
            </a:r>
            <a:endParaRPr/>
          </a:p>
        </p:txBody>
      </p:sp>
      <p:sp>
        <p:nvSpPr>
          <p:cNvPr id="227" name="Google Shape;227;p21"/>
          <p:cNvSpPr txBox="1"/>
          <p:nvPr/>
        </p:nvSpPr>
        <p:spPr>
          <a:xfrm>
            <a:off x="733425" y="2028825"/>
            <a:ext cx="3244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 Enter Ride ID: 101</a:t>
            </a:r>
            <a:endParaRPr/>
          </a:p>
        </p:txBody>
      </p:sp>
      <p:sp>
        <p:nvSpPr>
          <p:cNvPr id="228" name="Google Shape;228;p21"/>
          <p:cNvSpPr txBox="1"/>
          <p:nvPr/>
        </p:nvSpPr>
        <p:spPr>
          <a:xfrm>
            <a:off x="733425" y="2362200"/>
            <a:ext cx="3244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 Customer: Ravi</a:t>
            </a:r>
            <a:endParaRPr/>
          </a:p>
        </p:txBody>
      </p:sp>
      <p:sp>
        <p:nvSpPr>
          <p:cNvPr id="229" name="Google Shape;229;p21"/>
          <p:cNvSpPr txBox="1"/>
          <p:nvPr/>
        </p:nvSpPr>
        <p:spPr>
          <a:xfrm>
            <a:off x="733425" y="2695575"/>
            <a:ext cx="3244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 Fare: 450.00</a:t>
            </a:r>
            <a:endParaRPr/>
          </a:p>
        </p:txBody>
      </p:sp>
      <p:sp>
        <p:nvSpPr>
          <p:cNvPr id="230" name="Google Shape;230;p21"/>
          <p:cNvSpPr txBox="1"/>
          <p:nvPr/>
        </p:nvSpPr>
        <p:spPr>
          <a:xfrm>
            <a:off x="733425" y="3028950"/>
            <a:ext cx="32448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2C55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[SUCCESS] Node created at 0x55a1...</a:t>
            </a:r>
            <a:endParaRPr/>
          </a:p>
        </p:txBody>
      </p:sp>
      <p:sp>
        <p:nvSpPr>
          <p:cNvPr id="231" name="Google Shape;231;p21"/>
          <p:cNvSpPr/>
          <p:nvPr/>
        </p:nvSpPr>
        <p:spPr>
          <a:xfrm>
            <a:off x="4444900" y="1685925"/>
            <a:ext cx="95400" cy="95400"/>
          </a:xfrm>
          <a:prstGeom prst="roundRect">
            <a:avLst>
              <a:gd fmla="val 50000" name="adj"/>
            </a:avLst>
          </a:prstGeom>
          <a:solidFill>
            <a:srgbClr val="EF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1"/>
          <p:cNvSpPr/>
          <p:nvPr/>
        </p:nvSpPr>
        <p:spPr>
          <a:xfrm>
            <a:off x="4597300" y="1685925"/>
            <a:ext cx="95400" cy="95400"/>
          </a:xfrm>
          <a:prstGeom prst="roundRect">
            <a:avLst>
              <a:gd fmla="val 50000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1"/>
          <p:cNvSpPr/>
          <p:nvPr/>
        </p:nvSpPr>
        <p:spPr>
          <a:xfrm>
            <a:off x="4749700" y="1685925"/>
            <a:ext cx="95400" cy="95400"/>
          </a:xfrm>
          <a:prstGeom prst="roundRect">
            <a:avLst>
              <a:gd fmla="val 50000" name="adj"/>
            </a:avLst>
          </a:prstGeom>
          <a:solidFill>
            <a:srgbClr val="22C5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1"/>
          <p:cNvSpPr txBox="1"/>
          <p:nvPr/>
        </p:nvSpPr>
        <p:spPr>
          <a:xfrm>
            <a:off x="4997350" y="1685925"/>
            <a:ext cx="8574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Display_All.exe</a:t>
            </a:r>
            <a:endParaRPr/>
          </a:p>
        </p:txBody>
      </p:sp>
      <p:sp>
        <p:nvSpPr>
          <p:cNvPr id="235" name="Google Shape;235;p21"/>
          <p:cNvSpPr txBox="1"/>
          <p:nvPr/>
        </p:nvSpPr>
        <p:spPr>
          <a:xfrm>
            <a:off x="4473475" y="2028825"/>
            <a:ext cx="32448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ID | NAME | FARE</a:t>
            </a:r>
            <a:endParaRPr/>
          </a:p>
        </p:txBody>
      </p:sp>
      <p:sp>
        <p:nvSpPr>
          <p:cNvPr id="236" name="Google Shape;236;p21"/>
          <p:cNvSpPr txBox="1"/>
          <p:nvPr/>
        </p:nvSpPr>
        <p:spPr>
          <a:xfrm>
            <a:off x="4473475" y="2185987"/>
            <a:ext cx="3244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101 | Ravi | 450.0</a:t>
            </a:r>
            <a:endParaRPr/>
          </a:p>
        </p:txBody>
      </p:sp>
      <p:sp>
        <p:nvSpPr>
          <p:cNvPr id="237" name="Google Shape;237;p21"/>
          <p:cNvSpPr txBox="1"/>
          <p:nvPr/>
        </p:nvSpPr>
        <p:spPr>
          <a:xfrm>
            <a:off x="4473475" y="2471737"/>
            <a:ext cx="3244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102 | Harsh | 320.0</a:t>
            </a:r>
            <a:endParaRPr/>
          </a:p>
        </p:txBody>
      </p:sp>
      <p:sp>
        <p:nvSpPr>
          <p:cNvPr id="238" name="Google Shape;238;p21"/>
          <p:cNvSpPr txBox="1"/>
          <p:nvPr/>
        </p:nvSpPr>
        <p:spPr>
          <a:xfrm>
            <a:off x="4473475" y="2757487"/>
            <a:ext cx="3244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-- End of List --</a:t>
            </a:r>
            <a:endParaRPr/>
          </a:p>
        </p:txBody>
      </p:sp>
      <p:sp>
        <p:nvSpPr>
          <p:cNvPr id="239" name="Google Shape;239;p21"/>
          <p:cNvSpPr/>
          <p:nvPr/>
        </p:nvSpPr>
        <p:spPr>
          <a:xfrm>
            <a:off x="8185100" y="1685925"/>
            <a:ext cx="95400" cy="95400"/>
          </a:xfrm>
          <a:prstGeom prst="roundRect">
            <a:avLst>
              <a:gd fmla="val 50000" name="adj"/>
            </a:avLst>
          </a:prstGeom>
          <a:solidFill>
            <a:srgbClr val="EF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1"/>
          <p:cNvSpPr/>
          <p:nvPr/>
        </p:nvSpPr>
        <p:spPr>
          <a:xfrm>
            <a:off x="8337500" y="1685925"/>
            <a:ext cx="95400" cy="95400"/>
          </a:xfrm>
          <a:prstGeom prst="roundRect">
            <a:avLst>
              <a:gd fmla="val 50000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1"/>
          <p:cNvSpPr/>
          <p:nvPr/>
        </p:nvSpPr>
        <p:spPr>
          <a:xfrm>
            <a:off x="8489900" y="1685925"/>
            <a:ext cx="95400" cy="95400"/>
          </a:xfrm>
          <a:prstGeom prst="roundRect">
            <a:avLst>
              <a:gd fmla="val 50000" name="adj"/>
            </a:avLst>
          </a:prstGeom>
          <a:solidFill>
            <a:srgbClr val="22C5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1"/>
          <p:cNvSpPr txBox="1"/>
          <p:nvPr/>
        </p:nvSpPr>
        <p:spPr>
          <a:xfrm>
            <a:off x="8737550" y="1685925"/>
            <a:ext cx="7431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Search_ID.exe</a:t>
            </a:r>
            <a:endParaRPr/>
          </a:p>
        </p:txBody>
      </p:sp>
      <p:sp>
        <p:nvSpPr>
          <p:cNvPr id="243" name="Google Shape;243;p21"/>
          <p:cNvSpPr txBox="1"/>
          <p:nvPr/>
        </p:nvSpPr>
        <p:spPr>
          <a:xfrm>
            <a:off x="8213675" y="2028825"/>
            <a:ext cx="3244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 Search ID: 102</a:t>
            </a:r>
            <a:endParaRPr/>
          </a:p>
        </p:txBody>
      </p:sp>
      <p:sp>
        <p:nvSpPr>
          <p:cNvPr id="244" name="Google Shape;244;p21"/>
          <p:cNvSpPr txBox="1"/>
          <p:nvPr/>
        </p:nvSpPr>
        <p:spPr>
          <a:xfrm>
            <a:off x="8213675" y="2362200"/>
            <a:ext cx="3244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59E0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Result: Found Harsh</a:t>
            </a:r>
            <a:endParaRPr/>
          </a:p>
        </p:txBody>
      </p:sp>
      <p:sp>
        <p:nvSpPr>
          <p:cNvPr id="245" name="Google Shape;245;p21"/>
          <p:cNvSpPr txBox="1"/>
          <p:nvPr/>
        </p:nvSpPr>
        <p:spPr>
          <a:xfrm>
            <a:off x="8213675" y="2647950"/>
            <a:ext cx="3244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Dest: Central Park</a:t>
            </a:r>
            <a:endParaRPr/>
          </a:p>
        </p:txBody>
      </p:sp>
      <p:sp>
        <p:nvSpPr>
          <p:cNvPr id="246" name="Google Shape;246;p21"/>
          <p:cNvSpPr/>
          <p:nvPr/>
        </p:nvSpPr>
        <p:spPr>
          <a:xfrm>
            <a:off x="704850" y="4429125"/>
            <a:ext cx="95400" cy="95400"/>
          </a:xfrm>
          <a:prstGeom prst="roundRect">
            <a:avLst>
              <a:gd fmla="val 50000" name="adj"/>
            </a:avLst>
          </a:prstGeom>
          <a:solidFill>
            <a:srgbClr val="EF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1"/>
          <p:cNvSpPr/>
          <p:nvPr/>
        </p:nvSpPr>
        <p:spPr>
          <a:xfrm>
            <a:off x="857250" y="4429125"/>
            <a:ext cx="95400" cy="95400"/>
          </a:xfrm>
          <a:prstGeom prst="roundRect">
            <a:avLst>
              <a:gd fmla="val 50000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1"/>
          <p:cNvSpPr/>
          <p:nvPr/>
        </p:nvSpPr>
        <p:spPr>
          <a:xfrm>
            <a:off x="1009650" y="4429125"/>
            <a:ext cx="95400" cy="95400"/>
          </a:xfrm>
          <a:prstGeom prst="roundRect">
            <a:avLst>
              <a:gd fmla="val 50000" name="adj"/>
            </a:avLst>
          </a:prstGeom>
          <a:solidFill>
            <a:srgbClr val="22C5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1"/>
          <p:cNvSpPr txBox="1"/>
          <p:nvPr/>
        </p:nvSpPr>
        <p:spPr>
          <a:xfrm>
            <a:off x="1257300" y="4429125"/>
            <a:ext cx="57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Update.exe</a:t>
            </a:r>
            <a:endParaRPr/>
          </a:p>
        </p:txBody>
      </p:sp>
      <p:sp>
        <p:nvSpPr>
          <p:cNvPr id="250" name="Google Shape;250;p21"/>
          <p:cNvSpPr txBox="1"/>
          <p:nvPr/>
        </p:nvSpPr>
        <p:spPr>
          <a:xfrm>
            <a:off x="733425" y="4772025"/>
            <a:ext cx="3244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 Update ID: 101</a:t>
            </a:r>
            <a:endParaRPr/>
          </a:p>
        </p:txBody>
      </p:sp>
      <p:sp>
        <p:nvSpPr>
          <p:cNvPr id="251" name="Google Shape;251;p21"/>
          <p:cNvSpPr txBox="1"/>
          <p:nvPr/>
        </p:nvSpPr>
        <p:spPr>
          <a:xfrm>
            <a:off x="733425" y="5105400"/>
            <a:ext cx="3244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 New Fare: 500.00</a:t>
            </a:r>
            <a:endParaRPr/>
          </a:p>
        </p:txBody>
      </p:sp>
      <p:sp>
        <p:nvSpPr>
          <p:cNvPr id="252" name="Google Shape;252;p21"/>
          <p:cNvSpPr txBox="1"/>
          <p:nvPr/>
        </p:nvSpPr>
        <p:spPr>
          <a:xfrm>
            <a:off x="733425" y="5438775"/>
            <a:ext cx="3244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[OK] Data Synchronized</a:t>
            </a:r>
            <a:endParaRPr/>
          </a:p>
        </p:txBody>
      </p:sp>
      <p:sp>
        <p:nvSpPr>
          <p:cNvPr id="253" name="Google Shape;253;p21"/>
          <p:cNvSpPr/>
          <p:nvPr/>
        </p:nvSpPr>
        <p:spPr>
          <a:xfrm>
            <a:off x="4444900" y="4429125"/>
            <a:ext cx="95400" cy="95400"/>
          </a:xfrm>
          <a:prstGeom prst="roundRect">
            <a:avLst>
              <a:gd fmla="val 50000" name="adj"/>
            </a:avLst>
          </a:prstGeom>
          <a:solidFill>
            <a:srgbClr val="EF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1"/>
          <p:cNvSpPr/>
          <p:nvPr/>
        </p:nvSpPr>
        <p:spPr>
          <a:xfrm>
            <a:off x="4597300" y="4429125"/>
            <a:ext cx="95400" cy="95400"/>
          </a:xfrm>
          <a:prstGeom prst="roundRect">
            <a:avLst>
              <a:gd fmla="val 50000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1"/>
          <p:cNvSpPr/>
          <p:nvPr/>
        </p:nvSpPr>
        <p:spPr>
          <a:xfrm>
            <a:off x="4749700" y="4429125"/>
            <a:ext cx="95400" cy="95400"/>
          </a:xfrm>
          <a:prstGeom prst="roundRect">
            <a:avLst>
              <a:gd fmla="val 50000" name="adj"/>
            </a:avLst>
          </a:prstGeom>
          <a:solidFill>
            <a:srgbClr val="22C5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1"/>
          <p:cNvSpPr txBox="1"/>
          <p:nvPr/>
        </p:nvSpPr>
        <p:spPr>
          <a:xfrm>
            <a:off x="4997350" y="4429125"/>
            <a:ext cx="8574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Delete_Node.exe</a:t>
            </a:r>
            <a:endParaRPr/>
          </a:p>
        </p:txBody>
      </p:sp>
      <p:sp>
        <p:nvSpPr>
          <p:cNvPr id="257" name="Google Shape;257;p21"/>
          <p:cNvSpPr txBox="1"/>
          <p:nvPr/>
        </p:nvSpPr>
        <p:spPr>
          <a:xfrm>
            <a:off x="4473475" y="4772025"/>
            <a:ext cx="6984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 Delete Ride ID: 101</a:t>
            </a:r>
            <a:endParaRPr/>
          </a:p>
        </p:txBody>
      </p:sp>
      <p:sp>
        <p:nvSpPr>
          <p:cNvPr id="258" name="Google Shape;258;p21"/>
          <p:cNvSpPr txBox="1"/>
          <p:nvPr/>
        </p:nvSpPr>
        <p:spPr>
          <a:xfrm>
            <a:off x="4473475" y="5105400"/>
            <a:ext cx="6984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Unlinking node 101 from head...</a:t>
            </a:r>
            <a:endParaRPr/>
          </a:p>
        </p:txBody>
      </p:sp>
      <p:sp>
        <p:nvSpPr>
          <p:cNvPr id="259" name="Google Shape;259;p21"/>
          <p:cNvSpPr txBox="1"/>
          <p:nvPr/>
        </p:nvSpPr>
        <p:spPr>
          <a:xfrm>
            <a:off x="4473475" y="5391150"/>
            <a:ext cx="6984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F444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[FREE] Memory block 0x55a1 released back to OS.</a:t>
            </a:r>
            <a:endParaRPr/>
          </a:p>
        </p:txBody>
      </p:sp>
      <p:sp>
        <p:nvSpPr>
          <p:cNvPr id="260" name="Google Shape;260;p21"/>
          <p:cNvSpPr txBox="1"/>
          <p:nvPr/>
        </p:nvSpPr>
        <p:spPr>
          <a:xfrm>
            <a:off x="819150" y="581025"/>
            <a:ext cx="11331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00" u="none" cap="none" strike="noStrik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System </a:t>
            </a:r>
            <a:r>
              <a:rPr b="0" i="0" lang="en-US" sz="3900" u="none" cap="none" strike="noStrik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Operations</a:t>
            </a:r>
            <a:r>
              <a:rPr b="0" i="0" lang="en-US" sz="3900" u="none" cap="none" strike="noStrik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 Demo</a:t>
            </a:r>
            <a:endParaRPr/>
          </a:p>
        </p:txBody>
      </p:sp>
      <p:sp>
        <p:nvSpPr>
          <p:cNvPr id="261" name="Google Shape;261;p21"/>
          <p:cNvSpPr/>
          <p:nvPr/>
        </p:nvSpPr>
        <p:spPr>
          <a:xfrm>
            <a:off x="581025" y="581025"/>
            <a:ext cx="57300" cy="5907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6" name="Google Shape;26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7" name="Google Shape;26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600200"/>
            <a:ext cx="11029950" cy="4676775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2"/>
          <p:cNvSpPr txBox="1"/>
          <p:nvPr/>
        </p:nvSpPr>
        <p:spPr>
          <a:xfrm>
            <a:off x="581025" y="4714875"/>
            <a:ext cx="11029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DAE1E7"/>
                </a:solidFill>
                <a:latin typeface="Urbanist"/>
                <a:ea typeface="Urbanist"/>
                <a:cs typeface="Urbanist"/>
                <a:sym typeface="Urbanist"/>
              </a:rPr>
              <a:t>Linked Lists balance memory conservation with linear performance, outperforming arrays in dynamic environments.</a:t>
            </a:r>
            <a:endParaRPr/>
          </a:p>
        </p:txBody>
      </p:sp>
      <p:sp>
        <p:nvSpPr>
          <p:cNvPr id="269" name="Google Shape;269;p22"/>
          <p:cNvSpPr txBox="1"/>
          <p:nvPr/>
        </p:nvSpPr>
        <p:spPr>
          <a:xfrm>
            <a:off x="581025" y="581025"/>
            <a:ext cx="11581447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Performance </a:t>
            </a:r>
            <a:r>
              <a:rPr b="0" i="0" lang="en-US" sz="4200" u="none" cap="none" strike="noStrike">
                <a:solidFill>
                  <a:srgbClr val="00F2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Metrics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4" name="Google Shape;27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5" name="Google Shape;275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0" y="2997547"/>
            <a:ext cx="4943475" cy="2114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6" name="Google Shape;276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25" y="9525"/>
            <a:ext cx="60864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3"/>
          <p:cNvSpPr txBox="1"/>
          <p:nvPr/>
        </p:nvSpPr>
        <p:spPr>
          <a:xfrm>
            <a:off x="6667500" y="1368772"/>
            <a:ext cx="5190648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Backend </a:t>
            </a:r>
            <a:r>
              <a:rPr b="0" i="0" lang="en-US" sz="4200" u="none" cap="none" strike="noStrike">
                <a:solidFill>
                  <a:srgbClr val="00F2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Execution</a:t>
            </a:r>
            <a:endParaRPr/>
          </a:p>
        </p:txBody>
      </p:sp>
      <p:sp>
        <p:nvSpPr>
          <p:cNvPr id="278" name="Google Shape;278;p23"/>
          <p:cNvSpPr txBox="1"/>
          <p:nvPr/>
        </p:nvSpPr>
        <p:spPr>
          <a:xfrm>
            <a:off x="6667500" y="2387947"/>
            <a:ext cx="49434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E1E7"/>
                </a:solidFill>
                <a:latin typeface="Urbanist"/>
                <a:ea typeface="Urbanist"/>
                <a:cs typeface="Urbanist"/>
                <a:sym typeface="Urbanist"/>
              </a:rPr>
              <a:t>The console interface provides a clean menu for ride management.</a:t>
            </a:r>
            <a:endParaRPr/>
          </a:p>
        </p:txBody>
      </p:sp>
      <p:sp>
        <p:nvSpPr>
          <p:cNvPr id="279" name="Google Shape;279;p23"/>
          <p:cNvSpPr txBox="1"/>
          <p:nvPr/>
        </p:nvSpPr>
        <p:spPr>
          <a:xfrm>
            <a:off x="6667500" y="5302597"/>
            <a:ext cx="49434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E1E7"/>
                </a:solidFill>
                <a:latin typeface="Urbanist"/>
                <a:ea typeface="Urbanist"/>
                <a:cs typeface="Urbanist"/>
                <a:sym typeface="Urbanist"/>
              </a:rPr>
              <a:t>Real-time interaction with the memory heap.</a:t>
            </a:r>
            <a:endParaRPr/>
          </a:p>
        </p:txBody>
      </p:sp>
      <p:sp>
        <p:nvSpPr>
          <p:cNvPr id="280" name="Google Shape;280;p23"/>
          <p:cNvSpPr txBox="1"/>
          <p:nvPr/>
        </p:nvSpPr>
        <p:spPr>
          <a:xfrm>
            <a:off x="6962775" y="3292822"/>
            <a:ext cx="4352925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E1E7"/>
                </a:solidFill>
                <a:latin typeface="Arial"/>
                <a:ea typeface="Arial"/>
                <a:cs typeface="Arial"/>
                <a:sym typeface="Arial"/>
              </a:rPr>
              <a:t>&gt; 1. Add Ride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DAE1E7"/>
                </a:solidFill>
                <a:latin typeface="Arial"/>
                <a:ea typeface="Arial"/>
                <a:cs typeface="Arial"/>
                <a:sym typeface="Arial"/>
              </a:rPr>
              <a:t> &gt; Enter ID: 101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DAE1E7"/>
                </a:solidFill>
                <a:latin typeface="Arial"/>
                <a:ea typeface="Arial"/>
                <a:cs typeface="Arial"/>
                <a:sym typeface="Arial"/>
              </a:rPr>
              <a:t> &gt; Success: Ride Allocated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DAE1E7"/>
                </a:solidFill>
                <a:latin typeface="Arial"/>
                <a:ea typeface="Arial"/>
                <a:cs typeface="Arial"/>
                <a:sym typeface="Arial"/>
              </a:rPr>
              <a:t> &gt; 2. Display All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DAE1E7"/>
                </a:solidFill>
                <a:latin typeface="Arial"/>
                <a:ea typeface="Arial"/>
                <a:cs typeface="Arial"/>
                <a:sym typeface="Arial"/>
              </a:rPr>
              <a:t> &gt; Rahul | Airport | $450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5" name="Google Shape;28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4"/>
          <p:cNvSpPr/>
          <p:nvPr/>
        </p:nvSpPr>
        <p:spPr>
          <a:xfrm>
            <a:off x="581025" y="4310062"/>
            <a:ext cx="11029950" cy="19050"/>
          </a:xfrm>
          <a:prstGeom prst="rect">
            <a:avLst/>
          </a:prstGeom>
          <a:solidFill>
            <a:srgbClr val="1F26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4"/>
          <p:cNvSpPr txBox="1"/>
          <p:nvPr/>
        </p:nvSpPr>
        <p:spPr>
          <a:xfrm>
            <a:off x="520362" y="3519487"/>
            <a:ext cx="254781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F2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Sorting</a:t>
            </a:r>
            <a:endParaRPr/>
          </a:p>
        </p:txBody>
      </p:sp>
      <p:sp>
        <p:nvSpPr>
          <p:cNvPr id="288" name="Google Shape;288;p24"/>
          <p:cNvSpPr/>
          <p:nvPr/>
        </p:nvSpPr>
        <p:spPr>
          <a:xfrm>
            <a:off x="1699021" y="4033837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0F2FF"/>
          </a:solidFill>
          <a:ln cap="flat" cmpd="sng" w="38100">
            <a:solidFill>
              <a:srgbClr val="0A0E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4"/>
          <p:cNvSpPr txBox="1"/>
          <p:nvPr/>
        </p:nvSpPr>
        <p:spPr>
          <a:xfrm>
            <a:off x="581025" y="4510087"/>
            <a:ext cx="2426493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E1E7"/>
                </a:solidFill>
                <a:latin typeface="Urbanist"/>
                <a:ea typeface="Urbanist"/>
                <a:cs typeface="Urbanist"/>
                <a:sym typeface="Urbanist"/>
              </a:rPr>
              <a:t>Fare-based sorting algorithms</a:t>
            </a:r>
            <a:endParaRPr/>
          </a:p>
        </p:txBody>
      </p:sp>
      <p:sp>
        <p:nvSpPr>
          <p:cNvPr id="290" name="Google Shape;290;p24"/>
          <p:cNvSpPr txBox="1"/>
          <p:nvPr/>
        </p:nvSpPr>
        <p:spPr>
          <a:xfrm>
            <a:off x="3388131" y="3519487"/>
            <a:ext cx="254781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F2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Persistence</a:t>
            </a:r>
            <a:endParaRPr/>
          </a:p>
        </p:txBody>
      </p:sp>
      <p:sp>
        <p:nvSpPr>
          <p:cNvPr id="291" name="Google Shape;291;p24"/>
          <p:cNvSpPr/>
          <p:nvPr/>
        </p:nvSpPr>
        <p:spPr>
          <a:xfrm>
            <a:off x="4566791" y="4033837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0F2FF"/>
          </a:solidFill>
          <a:ln cap="flat" cmpd="sng" w="38100">
            <a:solidFill>
              <a:srgbClr val="0A0E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4"/>
          <p:cNvSpPr txBox="1"/>
          <p:nvPr/>
        </p:nvSpPr>
        <p:spPr>
          <a:xfrm>
            <a:off x="3448794" y="4510087"/>
            <a:ext cx="242649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E1E7"/>
                </a:solidFill>
                <a:latin typeface="Urbanist"/>
                <a:ea typeface="Urbanist"/>
                <a:cs typeface="Urbanist"/>
                <a:sym typeface="Urbanist"/>
              </a:rPr>
              <a:t>File I/O log generation</a:t>
            </a:r>
            <a:endParaRPr/>
          </a:p>
        </p:txBody>
      </p:sp>
      <p:sp>
        <p:nvSpPr>
          <p:cNvPr id="293" name="Google Shape;293;p24"/>
          <p:cNvSpPr txBox="1"/>
          <p:nvPr/>
        </p:nvSpPr>
        <p:spPr>
          <a:xfrm>
            <a:off x="6255900" y="3519487"/>
            <a:ext cx="254781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F2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Security</a:t>
            </a:r>
            <a:endParaRPr/>
          </a:p>
        </p:txBody>
      </p:sp>
      <p:sp>
        <p:nvSpPr>
          <p:cNvPr id="294" name="Google Shape;294;p24"/>
          <p:cNvSpPr/>
          <p:nvPr/>
        </p:nvSpPr>
        <p:spPr>
          <a:xfrm>
            <a:off x="7434560" y="4033837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0F2FF"/>
          </a:solidFill>
          <a:ln cap="flat" cmpd="sng" w="38100">
            <a:solidFill>
              <a:srgbClr val="0A0E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4"/>
          <p:cNvSpPr txBox="1"/>
          <p:nvPr/>
        </p:nvSpPr>
        <p:spPr>
          <a:xfrm>
            <a:off x="6316563" y="4510087"/>
            <a:ext cx="242649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E1E7"/>
                </a:solidFill>
                <a:latin typeface="Urbanist"/>
                <a:ea typeface="Urbanist"/>
                <a:cs typeface="Urbanist"/>
                <a:sym typeface="Urbanist"/>
              </a:rPr>
              <a:t>Admin authentication</a:t>
            </a:r>
            <a:endParaRPr/>
          </a:p>
        </p:txBody>
      </p:sp>
      <p:sp>
        <p:nvSpPr>
          <p:cNvPr id="296" name="Google Shape;296;p24"/>
          <p:cNvSpPr txBox="1"/>
          <p:nvPr/>
        </p:nvSpPr>
        <p:spPr>
          <a:xfrm>
            <a:off x="9123670" y="3519487"/>
            <a:ext cx="254781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F2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GUI</a:t>
            </a:r>
            <a:endParaRPr/>
          </a:p>
        </p:txBody>
      </p:sp>
      <p:sp>
        <p:nvSpPr>
          <p:cNvPr id="297" name="Google Shape;297;p24"/>
          <p:cNvSpPr/>
          <p:nvPr/>
        </p:nvSpPr>
        <p:spPr>
          <a:xfrm>
            <a:off x="10302329" y="4033837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0F2FF"/>
          </a:solidFill>
          <a:ln cap="flat" cmpd="sng" w="38100">
            <a:solidFill>
              <a:srgbClr val="0A0E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4"/>
          <p:cNvSpPr txBox="1"/>
          <p:nvPr/>
        </p:nvSpPr>
        <p:spPr>
          <a:xfrm>
            <a:off x="9184332" y="4510087"/>
            <a:ext cx="242649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E1E7"/>
                </a:solidFill>
                <a:latin typeface="Urbanist"/>
                <a:ea typeface="Urbanist"/>
                <a:cs typeface="Urbanist"/>
                <a:sym typeface="Urbanist"/>
              </a:rPr>
              <a:t>Frontend integration</a:t>
            </a:r>
            <a:endParaRPr/>
          </a:p>
        </p:txBody>
      </p:sp>
      <p:sp>
        <p:nvSpPr>
          <p:cNvPr id="299" name="Google Shape;299;p24"/>
          <p:cNvSpPr txBox="1"/>
          <p:nvPr/>
        </p:nvSpPr>
        <p:spPr>
          <a:xfrm>
            <a:off x="581025" y="581025"/>
            <a:ext cx="11581447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Project </a:t>
            </a:r>
            <a:r>
              <a:rPr b="0" i="0" lang="en-US" sz="4200" u="none" cap="none" strike="noStrike">
                <a:solidFill>
                  <a:srgbClr val="00F2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Evolution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4" name="Google Shape;30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5" name="Google Shape;305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76812" y="3764160"/>
            <a:ext cx="2238375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25"/>
          <p:cNvSpPr txBox="1"/>
          <p:nvPr/>
        </p:nvSpPr>
        <p:spPr>
          <a:xfrm>
            <a:off x="305276" y="2198340"/>
            <a:ext cx="11581447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00" u="none" cap="none" strike="noStrike">
                <a:solidFill>
                  <a:srgbClr val="00F2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Thank You</a:t>
            </a:r>
            <a:endParaRPr/>
          </a:p>
        </p:txBody>
      </p:sp>
      <p:sp>
        <p:nvSpPr>
          <p:cNvPr id="307" name="Google Shape;307;p25"/>
          <p:cNvSpPr txBox="1"/>
          <p:nvPr/>
        </p:nvSpPr>
        <p:spPr>
          <a:xfrm>
            <a:off x="581025" y="3017490"/>
            <a:ext cx="110299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AE1E7"/>
                </a:solidFill>
                <a:latin typeface="Urbanist"/>
                <a:ea typeface="Urbanist"/>
                <a:cs typeface="Urbanist"/>
                <a:sym typeface="Urbanist"/>
              </a:rPr>
              <a:t>Ravi Kumar &amp; Harshavardhan</a:t>
            </a:r>
            <a:endParaRPr/>
          </a:p>
        </p:txBody>
      </p:sp>
      <p:sp>
        <p:nvSpPr>
          <p:cNvPr id="308" name="Google Shape;308;p25"/>
          <p:cNvSpPr txBox="1"/>
          <p:nvPr/>
        </p:nvSpPr>
        <p:spPr>
          <a:xfrm>
            <a:off x="5272087" y="4059435"/>
            <a:ext cx="16478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E1E7"/>
                </a:solidFill>
                <a:latin typeface="Urbanist"/>
                <a:ea typeface="Urbanist"/>
                <a:cs typeface="Urbanist"/>
                <a:sym typeface="Urbanist"/>
              </a:rPr>
              <a:t>Any Questions?</a:t>
            </a:r>
            <a:endParaRPr/>
          </a:p>
        </p:txBody>
      </p:sp>
      <p:pic>
        <p:nvPicPr>
          <p:cNvPr descr="image.png" id="309" name="Google Shape;309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72087" y="4116585"/>
            <a:ext cx="19050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